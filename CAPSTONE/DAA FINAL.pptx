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8" r:id="rId10"/>
    <p:sldId id="269" r:id="rId11"/>
    <p:sldId id="266" r:id="rId12"/>
    <p:sldId id="267" r:id="rId13"/>
    <p:sldId id="263" r:id="rId14"/>
    <p:sldId id="264" r:id="rId15"/>
    <p:sldId id="271" r:id="rId16"/>
    <p:sldId id="265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9"/>
  </p:normalViewPr>
  <p:slideViewPr>
    <p:cSldViewPr>
      <p:cViewPr varScale="1">
        <p:scale>
          <a:sx n="105" d="100"/>
          <a:sy n="105" d="100"/>
        </p:scale>
        <p:origin x="74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4153" y="1638427"/>
            <a:ext cx="495808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2513" y="142443"/>
            <a:ext cx="9046972" cy="1258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0389" y="2100453"/>
            <a:ext cx="11031220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etworkx.org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36700" y="1832229"/>
            <a:ext cx="4679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006FC0"/>
                </a:solidFill>
              </a:rPr>
              <a:t>CSA0621</a:t>
            </a:r>
            <a:r>
              <a:rPr sz="2000" spc="-265" dirty="0">
                <a:solidFill>
                  <a:srgbClr val="006FC0"/>
                </a:solidFill>
              </a:rPr>
              <a:t> </a:t>
            </a:r>
            <a:r>
              <a:rPr sz="2000" dirty="0">
                <a:solidFill>
                  <a:srgbClr val="006FC0"/>
                </a:solidFill>
              </a:rPr>
              <a:t>–</a:t>
            </a:r>
            <a:r>
              <a:rPr sz="2000" spc="-25" dirty="0">
                <a:solidFill>
                  <a:srgbClr val="006FC0"/>
                </a:solidFill>
              </a:rPr>
              <a:t> </a:t>
            </a:r>
            <a:r>
              <a:rPr sz="2000" spc="-60" dirty="0">
                <a:solidFill>
                  <a:srgbClr val="006FC0"/>
                </a:solidFill>
              </a:rPr>
              <a:t>Design</a:t>
            </a:r>
            <a:r>
              <a:rPr sz="2000" spc="-110" dirty="0">
                <a:solidFill>
                  <a:srgbClr val="006FC0"/>
                </a:solidFill>
              </a:rPr>
              <a:t> </a:t>
            </a:r>
            <a:r>
              <a:rPr sz="2000" spc="-45" dirty="0">
                <a:solidFill>
                  <a:srgbClr val="006FC0"/>
                </a:solidFill>
              </a:rPr>
              <a:t>and</a:t>
            </a:r>
            <a:r>
              <a:rPr sz="2000" spc="-105" dirty="0">
                <a:solidFill>
                  <a:srgbClr val="006FC0"/>
                </a:solidFill>
              </a:rPr>
              <a:t> </a:t>
            </a:r>
            <a:r>
              <a:rPr sz="2000" spc="-60" dirty="0">
                <a:solidFill>
                  <a:srgbClr val="006FC0"/>
                </a:solidFill>
              </a:rPr>
              <a:t>Analysis</a:t>
            </a:r>
            <a:r>
              <a:rPr sz="2000" spc="-125" dirty="0">
                <a:solidFill>
                  <a:srgbClr val="006FC0"/>
                </a:solidFill>
              </a:rPr>
              <a:t> </a:t>
            </a:r>
            <a:r>
              <a:rPr sz="2000" spc="-35" dirty="0">
                <a:solidFill>
                  <a:srgbClr val="006FC0"/>
                </a:solidFill>
              </a:rPr>
              <a:t>of</a:t>
            </a:r>
            <a:r>
              <a:rPr sz="2000" spc="-110" dirty="0">
                <a:solidFill>
                  <a:srgbClr val="006FC0"/>
                </a:solidFill>
              </a:rPr>
              <a:t> </a:t>
            </a:r>
            <a:r>
              <a:rPr sz="2000" spc="-35" dirty="0">
                <a:solidFill>
                  <a:srgbClr val="006FC0"/>
                </a:solidFill>
              </a:rPr>
              <a:t>Algorithms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85291" y="2465908"/>
            <a:ext cx="6216015" cy="405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3570" algn="ctr">
              <a:lnSpc>
                <a:spcPct val="100000"/>
              </a:lnSpc>
              <a:spcBef>
                <a:spcPts val="100"/>
              </a:spcBef>
            </a:pPr>
            <a:r>
              <a:rPr sz="2400" b="1" spc="-105" dirty="0">
                <a:latin typeface="Times New Roman"/>
                <a:cs typeface="Times New Roman"/>
              </a:rPr>
              <a:t>CAPSTONE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400">
              <a:latin typeface="Times New Roman"/>
              <a:cs typeface="Times New Roman"/>
            </a:endParaRPr>
          </a:p>
          <a:p>
            <a:pPr marL="907415" marR="5080" indent="-89535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Optimized</a:t>
            </a:r>
            <a:r>
              <a:rPr sz="2400" b="1" spc="-20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Medical</a:t>
            </a:r>
            <a:r>
              <a:rPr sz="2400" b="1" spc="-40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Resource</a:t>
            </a:r>
            <a:r>
              <a:rPr sz="2400" b="1" spc="-10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Allocation</a:t>
            </a:r>
            <a:r>
              <a:rPr sz="2400" b="1" spc="-25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F497A"/>
                </a:solidFill>
                <a:latin typeface="Times New Roman"/>
                <a:cs typeface="Times New Roman"/>
              </a:rPr>
              <a:t>During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Disasters</a:t>
            </a:r>
            <a:r>
              <a:rPr sz="2400" b="1" spc="-55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Using</a:t>
            </a:r>
            <a:r>
              <a:rPr sz="2400" b="1" spc="-40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Greedy</a:t>
            </a:r>
            <a:r>
              <a:rPr sz="2400" b="1" spc="-65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and</a:t>
            </a:r>
            <a:r>
              <a:rPr sz="2400" b="1" spc="-45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F497A"/>
                </a:solidFill>
                <a:latin typeface="Times New Roman"/>
                <a:cs typeface="Times New Roman"/>
              </a:rPr>
              <a:t>Priority </a:t>
            </a:r>
            <a:r>
              <a:rPr sz="2400" b="1" dirty="0">
                <a:solidFill>
                  <a:srgbClr val="5F497A"/>
                </a:solidFill>
                <a:latin typeface="Times New Roman"/>
                <a:cs typeface="Times New Roman"/>
              </a:rPr>
              <a:t>Scheduling</a:t>
            </a:r>
            <a:r>
              <a:rPr sz="2400" b="1" spc="-30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F497A"/>
                </a:solidFill>
                <a:latin typeface="Times New Roman"/>
                <a:cs typeface="Times New Roman"/>
              </a:rPr>
              <a:t>Algorithms</a:t>
            </a:r>
            <a:endParaRPr sz="2400">
              <a:latin typeface="Times New Roman"/>
              <a:cs typeface="Times New Roman"/>
            </a:endParaRPr>
          </a:p>
          <a:p>
            <a:pPr marL="124460">
              <a:lnSpc>
                <a:spcPct val="100000"/>
              </a:lnSpc>
              <a:spcBef>
                <a:spcPts val="2025"/>
              </a:spcBef>
            </a:pPr>
            <a:r>
              <a:rPr sz="1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Submitted</a:t>
            </a:r>
            <a:r>
              <a:rPr sz="18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80340" marR="3719829" indent="-565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R.Jayanth</a:t>
            </a:r>
            <a:r>
              <a:rPr sz="1800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(192424286) </a:t>
            </a:r>
            <a:r>
              <a:rPr sz="1800" spc="-20" dirty="0">
                <a:solidFill>
                  <a:srgbClr val="001F5F"/>
                </a:solidFill>
                <a:latin typeface="Times New Roman"/>
                <a:cs typeface="Times New Roman"/>
              </a:rPr>
              <a:t>A.M.Rakesh(192424393)</a:t>
            </a:r>
            <a:endParaRPr sz="18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B.Abhishek(192472049)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Faculty</a:t>
            </a:r>
            <a:r>
              <a:rPr sz="1800" spc="-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Name:</a:t>
            </a:r>
            <a:r>
              <a:rPr sz="1800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Dr.Nagarajan</a:t>
            </a:r>
            <a:r>
              <a:rPr sz="1800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Govindasami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16992"/>
            <a:ext cx="10515600" cy="11949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2195042"/>
            <a:ext cx="4191000" cy="3732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501" rIns="0" bIns="0" rtlCol="0">
            <a:spAutoFit/>
          </a:bodyPr>
          <a:lstStyle/>
          <a:p>
            <a:pPr marL="316420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Abstract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831594" y="1648714"/>
            <a:ext cx="985012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Optimizes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healthcare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disasters.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Allocates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ambulances,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supplies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Measures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fairness,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utilization.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Displays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emergency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dashboard.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92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Introduction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02640" y="1933935"/>
            <a:ext cx="9930765" cy="331787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sudden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Hospitals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shortages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ambulances,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supplies.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lives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 help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effectively.</a:t>
            </a:r>
            <a:endParaRPr sz="2400">
              <a:latin typeface="Times New Roman"/>
              <a:cs typeface="Times New Roman"/>
            </a:endParaRPr>
          </a:p>
          <a:p>
            <a:pPr marL="355600" marR="875030" indent="-343535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healthcare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10" dirty="0">
                <a:latin typeface="Times New Roman"/>
                <a:cs typeface="Times New Roman"/>
              </a:rPr>
              <a:t> using </a:t>
            </a:r>
            <a:r>
              <a:rPr sz="2400" dirty="0">
                <a:latin typeface="Times New Roman"/>
                <a:cs typeface="Times New Roman"/>
              </a:rPr>
              <a:t>computational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798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Objectives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8404" y="1540002"/>
            <a:ext cx="497459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Displays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Shows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Tracks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allocation.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Displays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emergency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Supports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quick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</a:t>
            </a:r>
            <a:r>
              <a:rPr sz="2400" spc="-10" dirty="0">
                <a:latin typeface="Times New Roman"/>
                <a:cs typeface="Times New Roman"/>
              </a:rPr>
              <a:t>making.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0" y="1600174"/>
            <a:ext cx="4533900" cy="4528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5789" y="255269"/>
            <a:ext cx="770890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dirty="0"/>
              <a:t>Problem</a:t>
            </a:r>
            <a:r>
              <a:rPr sz="3950" spc="-140" dirty="0"/>
              <a:t> </a:t>
            </a:r>
            <a:r>
              <a:rPr sz="3950" spc="-20" dirty="0"/>
              <a:t>Identification</a:t>
            </a:r>
            <a:r>
              <a:rPr sz="3950" spc="-160" dirty="0"/>
              <a:t> </a:t>
            </a:r>
            <a:r>
              <a:rPr sz="3950" dirty="0"/>
              <a:t>and</a:t>
            </a:r>
            <a:r>
              <a:rPr sz="3950" spc="-135" dirty="0"/>
              <a:t> </a:t>
            </a:r>
            <a:r>
              <a:rPr sz="3950" spc="-10" dirty="0"/>
              <a:t>Analysis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307340" y="1235202"/>
            <a:ext cx="696785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43180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disasters,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	</a:t>
            </a:r>
            <a:r>
              <a:rPr sz="2400" dirty="0">
                <a:latin typeface="Times New Roman"/>
                <a:cs typeface="Times New Roman"/>
              </a:rPr>
              <a:t>demand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suddenly.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Emergency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teams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distribute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quickly.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297815" marR="59690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Poor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assistance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casualties.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decision-making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large-	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disasters.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optimize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0682" y="1371650"/>
            <a:ext cx="4661317" cy="522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-1"/>
            <a:ext cx="10287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74594" y="383870"/>
            <a:ext cx="471614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dirty="0"/>
              <a:t>Project</a:t>
            </a:r>
            <a:r>
              <a:rPr sz="3950" spc="-30" dirty="0"/>
              <a:t> </a:t>
            </a:r>
            <a:r>
              <a:rPr sz="3950" spc="-10" dirty="0"/>
              <a:t>Requirements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307340" y="1316481"/>
            <a:ext cx="734631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b="1" dirty="0">
                <a:latin typeface="Times New Roman"/>
                <a:cs typeface="Times New Roman"/>
              </a:rPr>
              <a:t>Programming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Language: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Python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b="1" dirty="0">
                <a:latin typeface="Times New Roman"/>
                <a:cs typeface="Times New Roman"/>
              </a:rPr>
              <a:t>Libraries: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NetworkX,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PuLP,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Pandas,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Matplotlib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297815" marR="347980" indent="-28575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299085" algn="l"/>
              </a:tabLst>
            </a:pPr>
            <a:r>
              <a:rPr sz="2800" b="1" dirty="0">
                <a:latin typeface="Times New Roman"/>
                <a:cs typeface="Times New Roman"/>
              </a:rPr>
              <a:t>Data: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Historical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disaster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GIS</a:t>
            </a:r>
            <a:r>
              <a:rPr sz="2800" spc="-10" dirty="0">
                <a:latin typeface="Times New Roman"/>
                <a:cs typeface="Times New Roman"/>
              </a:rPr>
              <a:t> location 	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b="1" dirty="0">
                <a:latin typeface="Times New Roman"/>
                <a:cs typeface="Times New Roman"/>
              </a:rPr>
              <a:t>Hardware: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8GB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RAM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297815" marR="2667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9085" algn="l"/>
              </a:tabLst>
            </a:pPr>
            <a:r>
              <a:rPr sz="2800" b="1" dirty="0">
                <a:latin typeface="Times New Roman"/>
                <a:cs typeface="Times New Roman"/>
              </a:rPr>
              <a:t>Software: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Jupyter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Notebook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1237" y="1261872"/>
            <a:ext cx="4072162" cy="48320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00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190" dirty="0"/>
              <a:t> </a:t>
            </a:r>
            <a:r>
              <a:rPr dirty="0"/>
              <a:t>1:Disaster</a:t>
            </a:r>
            <a:r>
              <a:rPr spc="-180" dirty="0"/>
              <a:t> </a:t>
            </a:r>
            <a:r>
              <a:rPr dirty="0"/>
              <a:t>Scenario</a:t>
            </a:r>
            <a:r>
              <a:rPr spc="-190" dirty="0"/>
              <a:t> </a:t>
            </a:r>
            <a:r>
              <a:rPr spc="-10" dirty="0"/>
              <a:t>Generator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98701"/>
            <a:ext cx="7169784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floods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earthquakes.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297815" marR="889000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incident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 	</a:t>
            </a:r>
            <a:r>
              <a:rPr sz="2400" dirty="0">
                <a:latin typeface="Times New Roman"/>
                <a:cs typeface="Times New Roman"/>
              </a:rPr>
              <a:t>severity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urgency.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7815" marR="692150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Simulates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healthcare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each 	</a:t>
            </a:r>
            <a:r>
              <a:rPr sz="2400" spc="-10" dirty="0">
                <a:latin typeface="Times New Roman"/>
                <a:cs typeface="Times New Roman"/>
              </a:rPr>
              <a:t>location.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7815" marR="1245870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allocation 	algorithm.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7631" y="1905000"/>
            <a:ext cx="444436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1620392"/>
            <a:ext cx="680021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65125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distribute </a:t>
            </a:r>
            <a:r>
              <a:rPr sz="2400" dirty="0">
                <a:latin typeface="Times New Roman"/>
                <a:cs typeface="Times New Roman"/>
              </a:rPr>
              <a:t>healthcare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710565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used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minimize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342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10" dirty="0">
                <a:latin typeface="Times New Roman"/>
                <a:cs typeface="Times New Roman"/>
              </a:rPr>
              <a:t>Graph-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shortest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routes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priority-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emergencies.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 generates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optimal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allocation plan.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931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165" dirty="0"/>
              <a:t> </a:t>
            </a:r>
            <a:r>
              <a:rPr dirty="0"/>
              <a:t>2:Allocation</a:t>
            </a:r>
            <a:r>
              <a:rPr spc="-185" dirty="0"/>
              <a:t> </a:t>
            </a:r>
            <a:r>
              <a:rPr spc="-10" dirty="0"/>
              <a:t>Algorithms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7822" y="1681607"/>
            <a:ext cx="4622674" cy="41857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8929" y="373506"/>
            <a:ext cx="7839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180" dirty="0"/>
              <a:t> </a:t>
            </a:r>
            <a:r>
              <a:rPr dirty="0"/>
              <a:t>3:Emergency</a:t>
            </a:r>
            <a:r>
              <a:rPr spc="-180" dirty="0"/>
              <a:t> </a:t>
            </a:r>
            <a:r>
              <a:rPr spc="-10" dirty="0"/>
              <a:t>Dashboard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30629"/>
            <a:ext cx="644969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8128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	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ambulances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teams.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allocation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efficiency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metrics.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marL="297815" marR="142621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Interactive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disaster 	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7815" marR="692785" indent="-28575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decision-making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	</a:t>
            </a:r>
            <a:r>
              <a:rPr sz="2400" dirty="0">
                <a:latin typeface="Times New Roman"/>
                <a:cs typeface="Times New Roman"/>
              </a:rPr>
              <a:t>emergency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teams.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1371549"/>
            <a:ext cx="5483606" cy="5073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7870" y="255473"/>
            <a:ext cx="784415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dirty="0"/>
              <a:t>Solution</a:t>
            </a:r>
            <a:r>
              <a:rPr sz="3950" spc="-105" dirty="0"/>
              <a:t> </a:t>
            </a:r>
            <a:r>
              <a:rPr sz="3950" dirty="0"/>
              <a:t>Design</a:t>
            </a:r>
            <a:r>
              <a:rPr sz="3950" spc="-130" dirty="0"/>
              <a:t> </a:t>
            </a:r>
            <a:r>
              <a:rPr sz="3950" dirty="0"/>
              <a:t>and</a:t>
            </a:r>
            <a:r>
              <a:rPr sz="3950" spc="-105" dirty="0"/>
              <a:t> </a:t>
            </a:r>
            <a:r>
              <a:rPr sz="3950" spc="-10" dirty="0"/>
              <a:t>Implementation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307340" y="1138173"/>
            <a:ext cx="680974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0797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 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incident </a:t>
            </a:r>
            <a:r>
              <a:rPr sz="2400" dirty="0">
                <a:latin typeface="Times New Roman"/>
                <a:cs typeface="Times New Roman"/>
              </a:rPr>
              <a:t>locations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marR="7239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inventory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ambulances,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supplies.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Allocation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demand.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fairness.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marR="28956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3488" y="1102296"/>
            <a:ext cx="4641850" cy="52630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50334" y="275589"/>
            <a:ext cx="2841625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spc="-10" dirty="0"/>
              <a:t>Methodology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612140" y="1338453"/>
            <a:ext cx="568896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Generate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scenarios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 </a:t>
            </a:r>
            <a:r>
              <a:rPr sz="2400" spc="-10" dirty="0">
                <a:latin typeface="Times New Roman"/>
                <a:cs typeface="Times New Roman"/>
              </a:rPr>
              <a:t>simulated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marR="446405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affected locations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calculate </a:t>
            </a:r>
            <a:r>
              <a:rPr sz="2400" dirty="0">
                <a:latin typeface="Times New Roman"/>
                <a:cs typeface="Times New Roman"/>
              </a:rPr>
              <a:t>healthcare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marR="22479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Apply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allocate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10" dirty="0">
                <a:latin typeface="Times New Roman"/>
                <a:cs typeface="Times New Roman"/>
              </a:rPr>
              <a:t> resources.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55600" marR="38735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Simulate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distribution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ambulances, </a:t>
            </a:r>
            <a:r>
              <a:rPr sz="2400" dirty="0">
                <a:latin typeface="Times New Roman"/>
                <a:cs typeface="Times New Roman"/>
              </a:rPr>
              <a:t>doctors,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supplies.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342265" marR="657860" indent="-342265" algn="r">
              <a:lnSpc>
                <a:spcPct val="100000"/>
              </a:lnSpc>
              <a:buFont typeface="Wingdings"/>
              <a:buChar char=""/>
              <a:tabLst>
                <a:tab pos="342265" algn="l"/>
              </a:tabLst>
            </a:pPr>
            <a:r>
              <a:rPr sz="2400" dirty="0">
                <a:latin typeface="Times New Roman"/>
                <a:cs typeface="Times New Roman"/>
              </a:rPr>
              <a:t>Analyze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under</a:t>
            </a:r>
            <a:endParaRPr sz="2400">
              <a:latin typeface="Times New Roman"/>
              <a:cs typeface="Times New Roman"/>
            </a:endParaRPr>
          </a:p>
          <a:p>
            <a:pPr marR="673735" algn="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 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4223" y="1524000"/>
            <a:ext cx="5545074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9501" y="246380"/>
            <a:ext cx="5321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Future</a:t>
            </a:r>
            <a:r>
              <a:rPr sz="4400" spc="-15" dirty="0"/>
              <a:t> </a:t>
            </a:r>
            <a:r>
              <a:rPr sz="4400" spc="-10" dirty="0"/>
              <a:t>Enhancements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64540" y="1290954"/>
            <a:ext cx="604520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Integration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monitoring systems.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391160" indent="-457834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predict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82550" indent="-457834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Integration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field responders.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300355" indent="-457834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GPS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ambulances</a:t>
            </a:r>
            <a:r>
              <a:rPr sz="2400" spc="-25" dirty="0">
                <a:latin typeface="Times New Roman"/>
                <a:cs typeface="Times New Roman"/>
              </a:rPr>
              <a:t> and </a:t>
            </a:r>
            <a:r>
              <a:rPr sz="2400" dirty="0">
                <a:latin typeface="Times New Roman"/>
                <a:cs typeface="Times New Roman"/>
              </a:rPr>
              <a:t>emergency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469900" marR="682625" indent="-457834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10" dirty="0">
                <a:latin typeface="Times New Roman"/>
                <a:cs typeface="Times New Roman"/>
              </a:rPr>
              <a:t>Cloud-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deployment for large-</a:t>
            </a:r>
            <a:r>
              <a:rPr sz="2400" spc="-10" dirty="0">
                <a:latin typeface="Times New Roman"/>
                <a:cs typeface="Times New Roman"/>
              </a:rPr>
              <a:t>scale </a:t>
            </a:r>
            <a:r>
              <a:rPr sz="2400" dirty="0">
                <a:latin typeface="Times New Roman"/>
                <a:cs typeface="Times New Roman"/>
              </a:rPr>
              <a:t>disaster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9200" y="1447800"/>
            <a:ext cx="4437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167" rIns="0" bIns="0" rtlCol="0">
            <a:spAutoFit/>
          </a:bodyPr>
          <a:lstStyle/>
          <a:p>
            <a:pPr marL="20624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Results</a:t>
            </a:r>
            <a:r>
              <a:rPr sz="4400" spc="-100" dirty="0"/>
              <a:t> </a:t>
            </a:r>
            <a:r>
              <a:rPr sz="4400" dirty="0"/>
              <a:t>and</a:t>
            </a:r>
            <a:r>
              <a:rPr sz="4400" spc="-85" dirty="0"/>
              <a:t> </a:t>
            </a:r>
            <a:r>
              <a:rPr sz="4400" spc="-10" dirty="0"/>
              <a:t>Conclusion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214629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3083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demonstrates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efficient</a:t>
            </a:r>
            <a:r>
              <a:rPr spc="-25" dirty="0"/>
              <a:t> </a:t>
            </a:r>
            <a:r>
              <a:rPr dirty="0"/>
              <a:t>approach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allocate</a:t>
            </a:r>
            <a:r>
              <a:rPr spc="-55" dirty="0"/>
              <a:t> </a:t>
            </a:r>
            <a:r>
              <a:rPr dirty="0"/>
              <a:t>healthcare</a:t>
            </a:r>
            <a:r>
              <a:rPr spc="-50" dirty="0"/>
              <a:t> </a:t>
            </a:r>
            <a:r>
              <a:rPr dirty="0"/>
              <a:t>resources</a:t>
            </a:r>
            <a:r>
              <a:rPr spc="-25" dirty="0"/>
              <a:t> </a:t>
            </a:r>
            <a:r>
              <a:rPr spc="-10" dirty="0"/>
              <a:t>during 	disasters.</a:t>
            </a:r>
          </a:p>
          <a:p>
            <a:pPr marL="31750"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pc="-10" dirty="0"/>
          </a:p>
          <a:p>
            <a:pPr marL="330200" indent="-285750">
              <a:lnSpc>
                <a:spcPct val="100000"/>
              </a:lnSpc>
              <a:buFont typeface="Wingdings"/>
              <a:buChar char=""/>
              <a:tabLst>
                <a:tab pos="330200" algn="l"/>
              </a:tabLst>
            </a:pPr>
            <a:r>
              <a:rPr dirty="0"/>
              <a:t>Simulation</a:t>
            </a:r>
            <a:r>
              <a:rPr spc="-50" dirty="0"/>
              <a:t> </a:t>
            </a:r>
            <a:r>
              <a:rPr dirty="0"/>
              <a:t>results</a:t>
            </a:r>
            <a:r>
              <a:rPr spc="-45" dirty="0"/>
              <a:t> </a:t>
            </a:r>
            <a:r>
              <a:rPr dirty="0"/>
              <a:t>show</a:t>
            </a:r>
            <a:r>
              <a:rPr spc="-25" dirty="0"/>
              <a:t> </a:t>
            </a:r>
            <a:r>
              <a:rPr dirty="0"/>
              <a:t>improved</a:t>
            </a:r>
            <a:r>
              <a:rPr spc="-40" dirty="0"/>
              <a:t> </a:t>
            </a:r>
            <a:r>
              <a:rPr dirty="0"/>
              <a:t>response</a:t>
            </a:r>
            <a:r>
              <a:rPr spc="-3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optimized</a:t>
            </a:r>
            <a:r>
              <a:rPr spc="-50" dirty="0"/>
              <a:t> </a:t>
            </a:r>
            <a:r>
              <a:rPr dirty="0"/>
              <a:t>allocation</a:t>
            </a:r>
            <a:r>
              <a:rPr spc="-65" dirty="0"/>
              <a:t> </a:t>
            </a:r>
            <a:r>
              <a:rPr spc="-10" dirty="0"/>
              <a:t>algorithms.</a:t>
            </a:r>
          </a:p>
          <a:p>
            <a:pPr marL="31750"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pc="-10" dirty="0"/>
          </a:p>
          <a:p>
            <a:pPr marL="330200" indent="-285750">
              <a:lnSpc>
                <a:spcPct val="100000"/>
              </a:lnSpc>
              <a:buFont typeface="Wingdings"/>
              <a:buChar char=""/>
              <a:tabLst>
                <a:tab pos="33020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dirty="0"/>
              <a:t>ensures</a:t>
            </a:r>
            <a:r>
              <a:rPr spc="-30" dirty="0"/>
              <a:t> </a:t>
            </a:r>
            <a:r>
              <a:rPr dirty="0"/>
              <a:t>fair</a:t>
            </a:r>
            <a:r>
              <a:rPr spc="-35" dirty="0"/>
              <a:t> </a:t>
            </a:r>
            <a:r>
              <a:rPr dirty="0"/>
              <a:t>distribution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resources</a:t>
            </a:r>
            <a:r>
              <a:rPr spc="-45" dirty="0"/>
              <a:t> </a:t>
            </a:r>
            <a:r>
              <a:rPr dirty="0"/>
              <a:t>among</a:t>
            </a:r>
            <a:r>
              <a:rPr spc="-15" dirty="0"/>
              <a:t> </a:t>
            </a: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emergency</a:t>
            </a:r>
            <a:r>
              <a:rPr spc="-30" dirty="0"/>
              <a:t> </a:t>
            </a:r>
            <a:r>
              <a:rPr spc="-10" dirty="0"/>
              <a:t>locations.</a:t>
            </a:r>
          </a:p>
          <a:p>
            <a:pPr marL="31750"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pc="-10" dirty="0"/>
          </a:p>
          <a:p>
            <a:pPr marL="330200" indent="-285750">
              <a:lnSpc>
                <a:spcPct val="100000"/>
              </a:lnSpc>
              <a:buFont typeface="Wingdings"/>
              <a:buChar char=""/>
              <a:tabLst>
                <a:tab pos="330200" algn="l"/>
              </a:tabLst>
            </a:pPr>
            <a:r>
              <a:rPr dirty="0"/>
              <a:t>Performance</a:t>
            </a:r>
            <a:r>
              <a:rPr spc="-10" dirty="0"/>
              <a:t> </a:t>
            </a:r>
            <a:r>
              <a:rPr dirty="0"/>
              <a:t>analysis</a:t>
            </a:r>
            <a:r>
              <a:rPr spc="-30" dirty="0"/>
              <a:t> </a:t>
            </a:r>
            <a:r>
              <a:rPr dirty="0"/>
              <a:t>helps</a:t>
            </a:r>
            <a:r>
              <a:rPr spc="-30" dirty="0"/>
              <a:t> </a:t>
            </a:r>
            <a:r>
              <a:rPr dirty="0"/>
              <a:t>identify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most</a:t>
            </a:r>
            <a:r>
              <a:rPr spc="5" dirty="0"/>
              <a:t> </a:t>
            </a:r>
            <a:r>
              <a:rPr dirty="0"/>
              <a:t>efficient</a:t>
            </a:r>
            <a:r>
              <a:rPr spc="-40" dirty="0"/>
              <a:t> </a:t>
            </a:r>
            <a:r>
              <a:rPr dirty="0"/>
              <a:t>algorithm</a:t>
            </a:r>
            <a:r>
              <a:rPr spc="-5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disaster</a:t>
            </a:r>
            <a:r>
              <a:rPr spc="-45" dirty="0"/>
              <a:t> </a:t>
            </a:r>
            <a:r>
              <a:rPr spc="-10" dirty="0"/>
              <a:t>response.</a:t>
            </a:r>
          </a:p>
          <a:p>
            <a:pPr marL="31750"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pc="-10" dirty="0"/>
          </a:p>
          <a:p>
            <a:pPr marL="329565" marR="285750" indent="-285750">
              <a:lnSpc>
                <a:spcPct val="100000"/>
              </a:lnSpc>
              <a:buFont typeface="Wingdings"/>
              <a:buChar char=""/>
              <a:tabLst>
                <a:tab pos="330835" algn="l"/>
              </a:tabLst>
            </a:pPr>
            <a:r>
              <a:rPr dirty="0"/>
              <a:t>Overall,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provides</a:t>
            </a:r>
            <a:r>
              <a:rPr spc="-2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technological</a:t>
            </a:r>
            <a:r>
              <a:rPr spc="-45" dirty="0"/>
              <a:t> </a:t>
            </a:r>
            <a:r>
              <a:rPr dirty="0"/>
              <a:t>solution</a:t>
            </a:r>
            <a:r>
              <a:rPr spc="-2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better</a:t>
            </a:r>
            <a:r>
              <a:rPr spc="-35" dirty="0"/>
              <a:t> </a:t>
            </a:r>
            <a:r>
              <a:rPr dirty="0"/>
              <a:t>emergency</a:t>
            </a:r>
            <a:r>
              <a:rPr spc="-15" dirty="0"/>
              <a:t> </a:t>
            </a:r>
            <a:r>
              <a:rPr spc="-10" dirty="0"/>
              <a:t>healthcare 	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29454" y="249427"/>
            <a:ext cx="26066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References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330578"/>
            <a:ext cx="1049782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1336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Altay,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N.,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Green,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“OR/MS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Research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Disaster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Operations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Management.”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European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Journal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Operational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2006.</a:t>
            </a:r>
            <a:endParaRPr sz="1800">
              <a:latin typeface="Times New Roman"/>
              <a:cs typeface="Times New Roman"/>
            </a:endParaRPr>
          </a:p>
          <a:p>
            <a:pPr marL="299085" marR="4699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Van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Wassenhove,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“Humanitarian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Aid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Logistics: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Supply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Chain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High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Gear.”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Journal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Society,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2006.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Tzeng,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H.,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Cheng,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Huang,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“Multi-</a:t>
            </a:r>
            <a:r>
              <a:rPr sz="1800" b="1" dirty="0">
                <a:latin typeface="Times New Roman"/>
                <a:cs typeface="Times New Roman"/>
              </a:rPr>
              <a:t>objective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Optimal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Planning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Designing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Relief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Delivery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Systems.”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Transportation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2007.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Dantzig,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B.,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Thapa,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Linear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Programming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Introduction.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Springer,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1997.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Ahuja,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K.,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Magnanti,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L.,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Orlin,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Network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Flows: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Theory,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Algorithms,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Applications.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Prentice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Hall,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1993.</a:t>
            </a:r>
            <a:endParaRPr sz="1800">
              <a:latin typeface="Times New Roman"/>
              <a:cs typeface="Times New Roman"/>
            </a:endParaRPr>
          </a:p>
          <a:p>
            <a:pPr marL="299085" marR="56007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Hagberg,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A.,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Swart,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P.,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Chult,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“Exploring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Network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Structure,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Dynamics,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Function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using NetworkX.”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Proceedings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Science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Conference,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2008.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Mitchell,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O’Sullivan,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D.,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Dunning,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I. </a:t>
            </a:r>
            <a:r>
              <a:rPr sz="1800" b="1" dirty="0">
                <a:latin typeface="Times New Roman"/>
                <a:cs typeface="Times New Roman"/>
              </a:rPr>
              <a:t>PuLP: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Linear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Programming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Toolkit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Python.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University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Auckland,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2011.</a:t>
            </a:r>
            <a:endParaRPr sz="1800">
              <a:latin typeface="Times New Roman"/>
              <a:cs typeface="Times New Roman"/>
            </a:endParaRPr>
          </a:p>
          <a:p>
            <a:pPr marL="299085" marR="34544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Sheu,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“Dynamic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Relief-</a:t>
            </a:r>
            <a:r>
              <a:rPr sz="1800" b="1" dirty="0">
                <a:latin typeface="Times New Roman"/>
                <a:cs typeface="Times New Roman"/>
              </a:rPr>
              <a:t>Demand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Emergency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Logistics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Operations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Large-</a:t>
            </a:r>
            <a:r>
              <a:rPr sz="1800" b="1" dirty="0">
                <a:latin typeface="Times New Roman"/>
                <a:cs typeface="Times New Roman"/>
              </a:rPr>
              <a:t>Scale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Disasters.”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Transportation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2007.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Foundation.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Python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Documentation.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https://www.python.org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NetworkX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Developers.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NetworkX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Documentation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Network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Analysis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Python.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https://networkx.org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00000"/>
                </a:solidFill>
              </a:rPr>
              <a:t>THANK </a:t>
            </a:r>
            <a:r>
              <a:rPr sz="6000" spc="-20" dirty="0">
                <a:solidFill>
                  <a:srgbClr val="000000"/>
                </a:solidFill>
              </a:rPr>
              <a:t>YOU!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2441194" y="2845434"/>
            <a:ext cx="67665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“In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times</a:t>
            </a:r>
            <a:r>
              <a:rPr sz="1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disaster,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speed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help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determines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hope.”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955</Words>
  <Application>Microsoft Macintosh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 MT</vt:lpstr>
      <vt:lpstr>Times New Roman</vt:lpstr>
      <vt:lpstr>Wingdings</vt:lpstr>
      <vt:lpstr>Office Theme</vt:lpstr>
      <vt:lpstr>CSA0621 – Design and Analysis of Algorithms</vt:lpstr>
      <vt:lpstr>Abstract</vt:lpstr>
      <vt:lpstr>Introduction</vt:lpstr>
      <vt:lpstr>Objectives</vt:lpstr>
      <vt:lpstr>Problem Identification and Analysis</vt:lpstr>
      <vt:lpstr>PowerPoint Presentation</vt:lpstr>
      <vt:lpstr>Project Requirements</vt:lpstr>
      <vt:lpstr>MODULE 1:Disaster Scenario Generator</vt:lpstr>
      <vt:lpstr>MODULE 2:Allocation Algorithms</vt:lpstr>
      <vt:lpstr>MODULE 3:Emergency Dashboard</vt:lpstr>
      <vt:lpstr>Solution Design and Implementation</vt:lpstr>
      <vt:lpstr>Methodology</vt:lpstr>
      <vt:lpstr>Future Enhancements</vt:lpstr>
      <vt:lpstr>Results and 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- Presentation Format.pptx</dc:title>
  <dc:creator>CHARULATHA</dc:creator>
  <cp:lastModifiedBy>bollinenibunny@gmail.com</cp:lastModifiedBy>
  <cp:revision>1</cp:revision>
  <dcterms:created xsi:type="dcterms:W3CDTF">2026-08-20T04:59:49Z</dcterms:created>
  <dcterms:modified xsi:type="dcterms:W3CDTF">2026-09-03T04:48:22Z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for Microsoft 365</vt:lpwstr>
  </property>
</Properties>
</file>